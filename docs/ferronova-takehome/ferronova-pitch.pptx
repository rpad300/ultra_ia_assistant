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Impossible plans can't be saved.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600" b="1">
                <a:solidFill>
                  <a:srgbClr val="9CC2FF"/>
                </a:solidFill>
                <a:latin typeface="Calibri"/>
              </a:rPr>
              <a:t>Costly plans need a name on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C9D4E3"/>
                </a:solidFill>
                <a:latin typeface="Calibri"/>
              </a:rPr>
              <a:t>One live picture of the portfolio. An agent that proposes re-plans.</a:t>
            </a:r>
          </a:p>
          <a:p>
            <a:pPr algn="l"/>
            <a:r>
              <a:rPr sz="1800" b="0">
                <a:solidFill>
                  <a:srgbClr val="C9D4E3"/>
                </a:solidFill>
                <a:latin typeface="Calibri"/>
              </a:rPr>
              <a:t>Planners who decide. Built on the Databricks lakehouse.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9D4E3"/>
                </a:solidFill>
                <a:latin typeface="Calibri"/>
              </a:rPr>
              <a:t>Rui Dias · Senior FDE take-home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THE PROBLEM AS WE UNDERSTAND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4243B"/>
                </a:solidFill>
                <a:latin typeface="Calibri"/>
              </a:rPr>
              <a:t>One question takes days to answer, and margin depends on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Calibri"/>
              </a:rPr>
              <a:t>Ferronova · one model, impossible plans refused, people decide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73152" cy="2194560"/>
          </a:xfrm>
          <a:prstGeom prst="rect">
            <a:avLst/>
          </a:prstGeom>
          <a:solidFill>
            <a:srgbClr val="C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Margin is fragile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Single-digit operating margins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Penalties capped around 5 to 10% of contract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One slipped milestone can erase a programme's profit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73152" cy="2194560"/>
          </a:xfrm>
          <a:prstGeom prst="rect">
            <a:avLst/>
          </a:prstGeom>
          <a:solidFill>
            <a:srgbClr val="C77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55648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Risk spreads silently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A few rigs and crews serve 20 to 25 programmes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One rig down moves risk to other programmes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Nobody sees it until a date is missed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73152" cy="2194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55648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Planning lives in heads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Excel and local factory tools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Constraint knowledge in a few senior planners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Key-person risk on the core of the business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110642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519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5F6B7A"/>
                </a:solidFill>
                <a:latin typeface="Calibri"/>
              </a:rPr>
              <a:t>The question nobody can answer in less than days 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0916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4243B"/>
                </a:solidFill>
                <a:latin typeface="Calibri"/>
              </a:rPr>
              <a:t>“If this bid lands, or this test rig goes down, what happens to everything else, and to our margin?”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WHAT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4243B"/>
                </a:solidFill>
                <a:latin typeface="Calibri"/>
              </a:rPr>
              <a:t>From reconciling spreadsheets to deciding on one live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Calibri"/>
              </a:rPr>
              <a:t>Ferronova · one model, impossible plans refused, people decide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39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749039"/>
                <a:gridCol w="4754880"/>
              </a:tblGrid>
              <a:tr h="6583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 marL="73152" marR="73152" marT="27432" marB="27432" anchor="ctr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With the system</a:t>
                      </a:r>
                    </a:p>
                  </a:txBody>
                  <a:tcPr marL="73152" marR="73152" marT="27432" marB="27432" anchor="ctr">
                    <a:solidFill>
                      <a:srgbClr val="14243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6"/>
                          </a:solidFill>
                          <a:latin typeface="Calibri"/>
                        </a:rPr>
                        <a:t>Portfolio view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6"/>
                          </a:solidFill>
                          <a:latin typeface="Calibri"/>
                        </a:rPr>
                        <a:t>Assembled by hand, weeks 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6"/>
                          </a:solidFill>
                          <a:latin typeface="Calibri"/>
                        </a:rPr>
                        <a:t>Live: every programme, milestone and scarce resource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6"/>
                          </a:solidFill>
                          <a:latin typeface="Calibri"/>
                        </a:rPr>
                        <a:t>Rig and crew bookings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6"/>
                          </a:solidFill>
                          <a:latin typeface="Calibri"/>
                        </a:rPr>
                        <a:t>Trackers per rig and per crew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6"/>
                          </a:solidFill>
                          <a:latin typeface="Calibri"/>
                        </a:rPr>
                        <a:t>One plan of record. A double booking cannot be saved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6"/>
                          </a:solidFill>
                          <a:latin typeface="Calibri"/>
                        </a:rPr>
                        <a:t>“What if this bid lands?”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6"/>
                          </a:solidFill>
                          <a:latin typeface="Calibri"/>
                        </a:rPr>
                        <a:t>Days of planner work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6"/>
                          </a:solidFill>
                          <a:latin typeface="Calibri"/>
                        </a:rPr>
                        <a:t>A scenario in minutes, with its penalty price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6"/>
                          </a:solidFill>
                          <a:latin typeface="Calibri"/>
                        </a:rPr>
                        <a:t>A rig goes down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6"/>
                          </a:solidFill>
                          <a:latin typeface="Calibri"/>
                        </a:rPr>
                        <a:t>Phone calls, re-plan over days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6"/>
                          </a:solidFill>
                          <a:latin typeface="Calibri"/>
                        </a:rPr>
                        <a:t>A costed re-plan waiting the same day; the planner decides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6"/>
                          </a:solidFill>
                          <a:latin typeface="Calibri"/>
                        </a:rPr>
                        <a:t>Who decided what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6"/>
                          </a:solidFill>
                          <a:latin typeface="Calibri"/>
                        </a:rPr>
                        <a:t>Email threads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22B36"/>
                          </a:solidFill>
                          <a:latin typeface="Calibri"/>
                        </a:rPr>
                        <a:t>Every commit versioned: who, why, at what cost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THE HEART OF THE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4243B"/>
                </a:solidFill>
                <a:latin typeface="Calibri"/>
              </a:rPr>
              <a:t>Five rules the plan cannot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Calibri"/>
              </a:rPr>
              <a:t>Ferronova · one model, impossible plans refused, people decide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777240" cy="603504"/>
          </a:xfrm>
          <a:prstGeom prst="roundRect">
            <a:avLst>
              <a:gd name="adj" fmla="val 8000"/>
            </a:avLst>
          </a:prstGeom>
          <a:solidFill>
            <a:srgbClr val="C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77724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18488"/>
            <a:ext cx="393192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1">
                <a:solidFill>
                  <a:srgbClr val="14243B"/>
                </a:solidFill>
                <a:latin typeface="Calibri"/>
              </a:rPr>
              <a:t>One campaign per rig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618488"/>
            <a:ext cx="621792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222B36"/>
                </a:solidFill>
                <a:latin typeface="Calibri"/>
              </a:rPr>
              <a:t>and only on a rig that can run that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0008"/>
            <a:ext cx="777240" cy="603504"/>
          </a:xfrm>
          <a:prstGeom prst="roundRect">
            <a:avLst>
              <a:gd name="adj" fmla="val 8000"/>
            </a:avLst>
          </a:prstGeom>
          <a:solidFill>
            <a:srgbClr val="C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50008"/>
            <a:ext cx="77724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368296"/>
            <a:ext cx="393192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1">
                <a:solidFill>
                  <a:srgbClr val="14243B"/>
                </a:solidFill>
                <a:latin typeface="Calibri"/>
              </a:rPr>
              <a:t>Qualified crews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368296"/>
            <a:ext cx="621792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222B36"/>
                </a:solidFill>
                <a:latin typeface="Calibri"/>
              </a:rPr>
              <a:t>certified for that vehicle, on those dates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99815"/>
            <a:ext cx="777240" cy="603504"/>
          </a:xfrm>
          <a:prstGeom prst="roundRect">
            <a:avLst>
              <a:gd name="adj" fmla="val 8000"/>
            </a:avLst>
          </a:prstGeom>
          <a:solidFill>
            <a:srgbClr val="C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99815"/>
            <a:ext cx="77724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18103"/>
            <a:ext cx="393192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1">
                <a:solidFill>
                  <a:srgbClr val="14243B"/>
                </a:solidFill>
                <a:latin typeface="Calibri"/>
              </a:rPr>
              <a:t>Crews free and inside the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118103"/>
            <a:ext cx="621792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222B36"/>
                </a:solidFill>
                <a:latin typeface="Calibri"/>
              </a:rPr>
              <a:t>travel time included, inside the customer's night or weekend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9624"/>
            <a:ext cx="777240" cy="603504"/>
          </a:xfrm>
          <a:prstGeom prst="roundRect">
            <a:avLst>
              <a:gd name="adj" fmla="val 8000"/>
            </a:avLst>
          </a:prstGeom>
          <a:solidFill>
            <a:srgbClr val="C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49624"/>
            <a:ext cx="77724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67911"/>
            <a:ext cx="393192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1">
                <a:solidFill>
                  <a:srgbClr val="14243B"/>
                </a:solidFill>
                <a:latin typeface="Calibri"/>
              </a:rPr>
              <a:t>Halls have a fixed number of bays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867911"/>
            <a:ext cx="621792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222B36"/>
                </a:solidFill>
                <a:latin typeface="Calibri"/>
              </a:rPr>
              <a:t>parked car-bodies never exceed the physical space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99431"/>
            <a:ext cx="777240" cy="603504"/>
          </a:xfrm>
          <a:prstGeom prst="roundRect">
            <a:avLst>
              <a:gd name="adj" fmla="val 8000"/>
            </a:avLst>
          </a:prstGeom>
          <a:solidFill>
            <a:srgbClr val="C77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99431"/>
            <a:ext cx="77724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17719"/>
            <a:ext cx="393192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1">
                <a:solidFill>
                  <a:srgbClr val="14243B"/>
                </a:solidFill>
                <a:latin typeface="Calibri"/>
              </a:rPr>
              <a:t>Every plan carries its price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4617719"/>
            <a:ext cx="621792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222B36"/>
                </a:solidFill>
                <a:latin typeface="Calibri"/>
              </a:rPr>
              <a:t>late milestones, penalties, what is recoverable. Costly plans need a director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32120"/>
            <a:ext cx="1060704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1">
                <a:solidFill>
                  <a:srgbClr val="14243B"/>
                </a:solidFill>
                <a:latin typeface="Calibri"/>
              </a:rPr>
              <a:t>R1 to R4 block what is physically impossible. R5 prices what is merely expensive. Each is a database rule, tested, not a guideline: it binds planners and the agent alike.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HOW IT STAYS SAFE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4243B"/>
                </a:solidFill>
                <a:latin typeface="Calibri"/>
              </a:rPr>
              <a:t>The agent proposes. The database refuses what is impossible. A person decides.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Calibri"/>
              </a:rPr>
              <a:t>Ferronova · one model, impossible plans refused, people decide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103120" cy="21488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2103120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74519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Rig A breaks 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77440"/>
            <a:ext cx="19202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22B36"/>
                </a:solidFill>
                <a:latin typeface="Calibri"/>
              </a:rPr>
              <a:t>10-week outage recorded.</a:t>
            </a:r>
          </a:p>
          <a:p>
            <a:pPr algn="l"/>
            <a:r>
              <a:rPr sz="1200" b="0">
                <a:solidFill>
                  <a:srgbClr val="222B36"/>
                </a:solidFill>
                <a:latin typeface="Calibri"/>
              </a:rPr>
              <a:t>Two test campaigns now conflict.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691640"/>
            <a:ext cx="2103120" cy="21488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1691640"/>
            <a:ext cx="21031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1874519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Agent proposes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377440"/>
            <a:ext cx="19202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22B36"/>
                </a:solidFill>
                <a:latin typeface="Calibri"/>
              </a:rPr>
              <a:t>Moves both campaigns to other capable rigs.</a:t>
            </a:r>
          </a:p>
          <a:p>
            <a:pPr algn="l"/>
            <a:r>
              <a:rPr sz="1200" b="0">
                <a:solidFill>
                  <a:srgbClr val="222B36"/>
                </a:solidFill>
                <a:latin typeface="Calibri"/>
              </a:rPr>
              <a:t>Price: type approval 59 days late, EUR 2.95M.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691640"/>
            <a:ext cx="2103120" cy="21488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691640"/>
            <a:ext cx="2103120" cy="10972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1874519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Planner improves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2377440"/>
            <a:ext cx="19202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22B36"/>
                </a:solidFill>
                <a:latin typeface="Calibri"/>
              </a:rPr>
              <a:t>Pulls another campaign forward.</a:t>
            </a:r>
          </a:p>
          <a:p>
            <a:pPr algn="l"/>
            <a:r>
              <a:rPr sz="1200" b="0">
                <a:solidFill>
                  <a:srgbClr val="222B36"/>
                </a:solidFill>
                <a:latin typeface="Calibri"/>
              </a:rPr>
              <a:t>Price down to EUR 1.4M, 28 days late.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1691640"/>
            <a:ext cx="2103120" cy="21488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9480" y="1691640"/>
            <a:ext cx="2103120" cy="109728"/>
          </a:xfrm>
          <a:prstGeom prst="rect">
            <a:avLst/>
          </a:prstGeom>
          <a:solidFill>
            <a:srgbClr val="C77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9208" y="1874519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Director signs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9208" y="2377440"/>
            <a:ext cx="19202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22B36"/>
                </a:solidFill>
                <a:latin typeface="Calibri"/>
              </a:rPr>
              <a:t>Above the penalty threshold (R5), so a director must approve.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1691640"/>
            <a:ext cx="2103120" cy="21488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9760" y="1691640"/>
            <a:ext cx="2103120" cy="109728"/>
          </a:xfrm>
          <a:prstGeom prst="rect">
            <a:avLst/>
          </a:prstGeom>
          <a:solidFill>
            <a:srgbClr val="14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9488" y="1874519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Committed as plan 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9488" y="2377440"/>
            <a:ext cx="19202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222B36"/>
                </a:solidFill>
                <a:latin typeface="Calibri"/>
              </a:rPr>
              <a:t>One transaction, versioned, conflicts cleared.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690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4243B"/>
                </a:solidFill>
                <a:latin typeface="Calibri"/>
              </a:rPr>
              <a:t>Refused along the way, by the database (17 executable tests)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48640" y="443484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0"/>
                <a:gridCol w="1188720"/>
                <a:gridCol w="20116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Attempt</a:t>
                      </a:r>
                    </a:p>
                  </a:txBody>
                  <a:tcPr marL="73152" marR="73152" marT="27432" marB="27432" anchor="ctr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73152" marR="73152" marT="27432" marB="27432" anchor="ctr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 marL="73152" marR="73152" marT="27432" marB="27432" anchor="ctr">
                    <a:solidFill>
                      <a:srgbClr val="14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Book a rig that cannot run brake tests; double-book Rig 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Send a crew not qualified for the metro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Test outside the customer's window; same crew with no travel time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R3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Commit the cheaper plan without a director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R5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Planner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REFUSALS ARE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4243B"/>
                </a:solidFill>
                <a:latin typeface="Calibri"/>
              </a:rPr>
              <a:t>Every refused change is kept, with the rule that refused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Calibri"/>
              </a:rPr>
              <a:t>Ferronova · one model, impossible plans refused, people decide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73152" cy="2377440"/>
          </a:xfrm>
          <a:prstGeom prst="rect">
            <a:avLst/>
          </a:prstGeom>
          <a:solidFill>
            <a:srgbClr val="14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Who tried what, when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Which rule stopped it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Planner or agent, same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73152" cy="2377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55648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Agent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Each refusal is feedback for the next try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History becomes its evaluation set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Shows which rule it misreads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73152" cy="237744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55648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Capacity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Pressure per rig, crew pool, hall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Sustained refusals justify renting or hiring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No pressure avoids buying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429768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1097280"/>
                <a:gridCol w="557784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 marL="73152" marR="73152" marT="27432" marB="27432" anchor="ctr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Refusals in the test run</a:t>
                      </a:r>
                    </a:p>
                  </a:txBody>
                  <a:tcPr marL="73152" marR="73152" marT="27432" marB="27432" anchor="ctr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Rules</a:t>
                      </a:r>
                    </a:p>
                  </a:txBody>
                  <a:tcPr marL="73152" marR="73152" marT="27432" marB="27432" anchor="ctr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73152" marR="73152" marT="27432" marB="27432" anchor="ctr">
                    <a:solidFill>
                      <a:srgbClr val="1424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RIG-B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The only free EMC rig: the bottleneck after an outage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CRW-1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R3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One qualified metro crew; windows are tight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Hall H1, bay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R4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Parking pressure while batches wait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4243B"/>
                </a:solidFill>
                <a:latin typeface="Calibri"/>
              </a:rPr>
              <a:t>Protect margin first, then grow the order book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Calibri"/>
              </a:rPr>
              <a:t>Ferronova · one model, impossible plans refused, people decide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749808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08960"/>
                <a:gridCol w="2194560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Lever</a:t>
                      </a:r>
                    </a:p>
                  </a:txBody>
                  <a:tcPr marL="73152" marR="73152" marT="27432" marB="27432" anchor="ctr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 marL="73152" marR="73152" marT="27432" marB="27432" anchor="ctr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Order of magnitude / year</a:t>
                      </a:r>
                    </a:p>
                  </a:txBody>
                  <a:tcPr marL="73152" marR="73152" marT="27432" marB="27432" anchor="ctr">
                    <a:solidFill>
                      <a:srgbClr val="1424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Avoid penalties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Risk visible weeks earlier, same-day re-plans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EUR 5 to 10M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Recover from disruptions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~2 weeks recovered per major disruption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EUR 2 to 4M (partly overlaps)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Bid on dates we can meet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Bids checked against real rig and crew capacity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Avoid EUR 70M tail risk on one bid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Capacity on evidence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Refusal pressure shows where to rent or hire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Better-timed capex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Planner capacity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Scenarios in minutes; knowledge captured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  <a:latin typeface="Calibri"/>
                        </a:rPr>
                        <a:t>Resilience, less key-person risk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21040" y="1600200"/>
            <a:ext cx="3291840" cy="34290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1040" y="1600200"/>
            <a:ext cx="73152" cy="3429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19" y="1709928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How to read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19" y="2148840"/>
            <a:ext cx="30175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Assumes EUR 7.7bn in flight, 6% margin, penalties ~1% of revenue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Penalty lever alone ≈ 3 to 7% of operating profit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Board-level case: bid risk and resilience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Build ≈ EUR 1 to 1.5M, payback &lt; 1 year if the penalty assumption holds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440680"/>
            <a:ext cx="1060704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222B36"/>
                </a:solidFill>
                <a:latin typeface="Calibri"/>
              </a:rPr>
              <a:t>First number to get in week 1: penalties actually paid or accrued in the last 3 years, by milestone. If it is 0.3% of revenue, not 1%, the case rests on bid risk and resilience.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THE ORDER WE UNLOCK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4243B"/>
                </a:solidFill>
                <a:latin typeface="Calibri"/>
              </a:rPr>
              <a:t>Each step pays for itself and makes the next one safe. The agent comes last.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Calibri"/>
              </a:rPr>
              <a:t>Ferronova · one model, impossible plans refused, people decide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651760" cy="82296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1 · 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21408"/>
            <a:ext cx="2377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Weeks 0–8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7432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Sources in, IDs resolved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Portfolio risk picture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Read-only, low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691640"/>
            <a:ext cx="2651760" cy="822960"/>
          </a:xfrm>
          <a:prstGeom prst="roundRect">
            <a:avLst>
              <a:gd name="adj" fmla="val 8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737360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2 · Commit safely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121408"/>
            <a:ext cx="2377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Weeks 6–16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260604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7432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Rig, crew, hall bookings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R1 to R5 enforced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Trackers retired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691640"/>
            <a:ext cx="2651760" cy="822960"/>
          </a:xfrm>
          <a:prstGeom prst="roundRect">
            <a:avLst>
              <a:gd name="adj" fmla="val 8000"/>
            </a:avLst>
          </a:prstGeom>
          <a:solidFill>
            <a:srgbClr val="C77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737360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3 · What-if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121408"/>
            <a:ext cx="2377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Weeks 12–20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260604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27432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Bid and disruption scenarios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Price per option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Better bid decisions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7696" y="1691640"/>
            <a:ext cx="2651760" cy="822960"/>
          </a:xfrm>
          <a:prstGeom prst="roundRect">
            <a:avLst>
              <a:gd name="adj" fmla="val 8000"/>
            </a:avLst>
          </a:prstGeom>
          <a:solidFill>
            <a:srgbClr val="C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1737360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4 · Agent proposes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2121408"/>
            <a:ext cx="2377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Weeks 18–26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7696" y="260604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07424" y="27432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Rig-down re-plan first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Planner approves or edits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Days to hours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983480"/>
            <a:ext cx="106070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C23B3B"/>
                </a:solidFill>
                <a:latin typeface="Calibri"/>
              </a:rPr>
              <a:t>Where we push 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349240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222B36"/>
                </a:solidFill>
                <a:latin typeface="Calibri"/>
              </a:rPr>
              <a:t>The ask is an agent on top. On today's data it would reason over spreadsheets that disagree. Steps 1 and 2 deliver most of the risk reduction and make the agent safe. If we stopped after step 2, Ferronova would already have one trusted plan.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WHAT MAKES OR BREAKS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4243B"/>
                </a:solidFill>
                <a:latin typeface="Calibri"/>
              </a:rPr>
              <a:t>Three things decide success. Only one of them is technical.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Calibri"/>
              </a:rPr>
              <a:t>Ferronova · one model, impossible plans refused, people decide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73152" cy="265176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01368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1 · Planners want to 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If the app is slower than the lead planner's Excel, it dies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They see their own rules in the model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They keep the final say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9164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91640"/>
            <a:ext cx="73152" cy="2651760"/>
          </a:xfrm>
          <a:prstGeom prst="rect">
            <a:avLst/>
          </a:prstGeom>
          <a:solidFill>
            <a:srgbClr val="C77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01368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2 · One write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4028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Every rig, crew and hall change goes through the plan of record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Trackers retired, not kept in parallel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A management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73152" cy="2651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01368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3 · Data you can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4028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Factories name things differently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ID crosswalk with named owners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Penalty terms as data, not contract PDFs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OPEN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4243B"/>
                </a:solidFill>
                <a:latin typeface="Calibri"/>
              </a:rPr>
              <a:t>What I need from you to firm this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Calibri"/>
              </a:rPr>
              <a:t>Ferronova · one model, impossible plans refused, people decide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86400" cy="356616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73152" cy="3566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52120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What did penalties cost in the last 3 years, by milestone?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Which constraint binds most today: rigs, crews or hall space?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How are penalties written: caps, recovery, force majeure for rig failure?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Who may accept a plan that makes a customer milestone late?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At what bid probability should a bid reserve capacity?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How much autonomy for the agent in year one?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94960" cy="356616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73152" cy="3566160"/>
          </a:xfrm>
          <a:prstGeom prst="rect">
            <a:avLst/>
          </a:prstGeom>
          <a:solidFill>
            <a:srgbClr val="14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55648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Technical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Direct DB access with change capture on the scheduling tool?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Which MES per factory, and what can each export, how often?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Does the register cover batches, rigs and crews, or only programmes?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Hall space: bays, or metres?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Lakebase in your region, with the extensions we need?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How fresh must the picture be: minutes, hours, daily?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HOW I WORKED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4243B"/>
                </a:solidFill>
                <a:latin typeface="Calibri"/>
              </a:rPr>
              <a:t>Faster on the mechanical parts, overruled on the judgment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Calibri"/>
              </a:rPr>
              <a:t>Ferronova · one model, impossible plans refused, people decide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486400" cy="23774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73152" cy="237744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01368"/>
            <a:ext cx="52120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Where it moved me faster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[Replace with your own example]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Drafting DDL, seed data and a test harness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Time saved went into deciding which rules block and which only price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394960" cy="237744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2377440"/>
          </a:xfrm>
          <a:prstGeom prst="rect">
            <a:avLst/>
          </a:prstGeom>
          <a:solidFill>
            <a:srgbClr val="C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01368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Where I overrode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402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[Replace with your own example]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Checks after the fact detect a double booking; they cannot refuse it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22B36"/>
                </a:solidFill>
                <a:latin typeface="Calibri"/>
              </a:rPr>
              <a:t>•  Agent safety moved out of the prompt, into permissions and 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alibri"/>
              </a:rPr>
              <a:t>Adapt this slide to your own session before sending.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Backup · architecture, data model, agent, planner prototype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BACKUP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4243B"/>
                </a:solidFill>
                <a:latin typeface="Calibri"/>
              </a:rPr>
              <a:t>Lakehouse for the picture, Lakebase for the plan of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Calibri"/>
              </a:rPr>
              <a:t>Ferronova · one model, impossible plans refused, people decide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057400" cy="502920"/>
          </a:xfrm>
          <a:prstGeom prst="roundRect">
            <a:avLst>
              <a:gd name="adj" fmla="val 8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187451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2057400" cy="27432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331720"/>
            <a:ext cx="193852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Scheduling DB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MES × factories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PLM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CRM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ERP + sheets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Planner trackers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Programme register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24328" y="3429000"/>
            <a:ext cx="155448" cy="274320"/>
          </a:xfrm>
          <a:prstGeom prst="rightArrow">
            <a:avLst/>
          </a:prstGeom>
          <a:solidFill>
            <a:srgbClr val="D5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8920" y="1645920"/>
            <a:ext cx="2057400" cy="502920"/>
          </a:xfrm>
          <a:prstGeom prst="roundRect">
            <a:avLst>
              <a:gd name="adj" fmla="val 8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673352"/>
            <a:ext cx="187451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Ingest + conform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2240280"/>
            <a:ext cx="2057400" cy="27432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62072" y="2331720"/>
            <a:ext cx="193852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Lakeflow Connect, Auto Loader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Config as data: 1 row per source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bronze raw, silver conformed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ID crosswalk + quarantine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Expectations / DQX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64608" y="3429000"/>
            <a:ext cx="155448" cy="274320"/>
          </a:xfrm>
          <a:prstGeom prst="rightArrow">
            <a:avLst/>
          </a:prstGeom>
          <a:solidFill>
            <a:srgbClr val="D5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1645920"/>
            <a:ext cx="2057400" cy="502920"/>
          </a:xfrm>
          <a:prstGeom prst="roundRect">
            <a:avLst>
              <a:gd name="adj" fmla="val 8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673352"/>
            <a:ext cx="187451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Plan of record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240280"/>
            <a:ext cx="2057400" cy="27432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2331720"/>
            <a:ext cx="193852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Lakebase (Postgres)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Bookings: rig, crew, hall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Scenarios, approvals, versions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R1–R4 as constraints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Gate G1–G6, refusals logged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04888" y="3429000"/>
            <a:ext cx="155448" cy="274320"/>
          </a:xfrm>
          <a:prstGeom prst="rightArrow">
            <a:avLst/>
          </a:prstGeom>
          <a:solidFill>
            <a:srgbClr val="D5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69480" y="1645920"/>
            <a:ext cx="2057400" cy="502920"/>
          </a:xfrm>
          <a:prstGeom prst="roundRect">
            <a:avLst>
              <a:gd name="adj" fmla="val 8000"/>
            </a:avLst>
          </a:prstGeom>
          <a:solidFill>
            <a:srgbClr val="C77C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1673352"/>
            <a:ext cx="187451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Read models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2240280"/>
            <a:ext cx="2057400" cy="27432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42631" y="2331720"/>
            <a:ext cx="193852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gold: milestone risk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resource load by week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refusal pressure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Metric views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45168" y="3429000"/>
            <a:ext cx="155448" cy="274320"/>
          </a:xfrm>
          <a:prstGeom prst="rightArrow">
            <a:avLst/>
          </a:prstGeom>
          <a:solidFill>
            <a:srgbClr val="D5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09760" y="1645920"/>
            <a:ext cx="2057400" cy="502920"/>
          </a:xfrm>
          <a:prstGeom prst="roundRect">
            <a:avLst>
              <a:gd name="adj" fmla="val 8000"/>
            </a:avLst>
          </a:prstGeom>
          <a:solidFill>
            <a:srgbClr val="C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1673352"/>
            <a:ext cx="1874519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Surfaces + agent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2240280"/>
            <a:ext cx="2057400" cy="27432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2" y="2331720"/>
            <a:ext cx="193852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Databricks App: planner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AI/BI + Genie: leadership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Agent: service principal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Tools = UC functions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Optimiser = black 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16636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Why Lakebase: Delta enforces only row-level rules. “One campaign per rig at a time” is a cross-row rule. Postgres makes it impossible to save.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Data quality (is this data trustworthy?) lives in the pipelines. Decision validity (is this plan committable?) lives only at commit.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Decisions do not round-trip through bronze and silver: the ledger is their system of record, replicated to Delta for history.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BACKUP ·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4243B"/>
                </a:solidFill>
                <a:latin typeface="Calibri"/>
              </a:rPr>
              <a:t>Every rule maps to a database object, scoped by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Calibri"/>
              </a:rPr>
              <a:t>Ferronova · one model, impossible plans refused, people decide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7406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66344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73152" marR="73152" marT="27432" marB="27432" anchor="ctr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marL="73152" marR="73152" marT="27432" marB="27432" anchor="ctr">
                    <a:solidFill>
                      <a:srgbClr val="1424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R1 one campaign per rig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EXCLUDE (scenario, rig, period &amp;&amp;) + FK rig_capability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R2 qualified crew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FK (crew, design, qual_period) + CHECK period &lt;@ qual_period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R3 in window, crew free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FK (window, site, window_period) + CHECK; EXCLUDE (crew, [mobilise, end))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R4 hall never over-committed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Bays as positions + EXCLUDE (scenario, position, period &amp;&amp;)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R5 every plan priced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v_penalty_exposure; G5 escalates above threshold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No commit on outages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Gate G4 over v_plan_conflicts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No stale overwrite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G2: base_version check under lock on plan_head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Refusals kept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B36"/>
                          </a:solidFill>
                          <a:latin typeface="Calibri"/>
                        </a:rPr>
                        <a:t>rule_catalog + rejection_log + v_rejection_pressure</a:t>
                      </a:r>
                    </a:p>
                  </a:txBody>
                  <a:tcPr marL="73152" marR="73152" marT="27432" marB="27432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83879" y="1600200"/>
            <a:ext cx="3429000" cy="41148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83879" y="1600200"/>
            <a:ext cx="73152" cy="4114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59" y="1709928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Core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59" y="214884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Reference: programme, design, design_type_test, milestone, campaign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Resources: test_rig, rig_capability, crew, crew_qualification, access_window, hall_position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Plan (by scenario): rig_booking, crew_assignment, hall_occupancy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Governance: scenario, approval, plan_version, operational_event, guardrail_policy, rejection_log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BACKUP · THE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4243B"/>
                </a:solidFill>
                <a:latin typeface="Calibri"/>
              </a:rPr>
              <a:t>Scoped to one trigger first: a test rig goes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Calibri"/>
              </a:rPr>
              <a:t>Ferronova · one model, impossible plans refused, people decide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310896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73152" cy="310896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Its whole action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branch_scenario: open its own draft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try_move_booking: move a campaign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try_assign_crew: place a crew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submit_scenario: hand over with rationale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Each returns OK or the refusing rule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566160" cy="310896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73152" cy="3108960"/>
          </a:xfrm>
          <a:prstGeom prst="rect">
            <a:avLst/>
          </a:prstGeom>
          <a:solidFill>
            <a:srgbClr val="C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55648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Never touches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Contract dates and penalty terms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Customer windows, qualifications, rig capabilities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Factory shop-floor sequencing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The committed plan, approvals, thresholds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Bid pricing and customer talks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566160" cy="310896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73152" cy="3108960"/>
          </a:xfrm>
          <a:prstGeom prst="rect">
            <a:avLst/>
          </a:prstGeom>
          <a:solidFill>
            <a:srgbClr val="14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55648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Guardrails live in the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RLS: own draft only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Constraints: every row feasible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No permission to commit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G2 stale, G4 reality, G5 cost → director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22B36"/>
                </a:solidFill>
                <a:latin typeface="Calibri"/>
              </a:rPr>
              <a:t>•  MLflow trace + refusal log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Calibri"/>
              </a:rPr>
              <a:t>BACKUP · PLANNER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4243B"/>
                </a:solidFill>
                <a:latin typeface="Calibri"/>
              </a:rPr>
              <a:t>planner-prototype.html: the proposal, the price, and the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Calibri"/>
              </a:rPr>
              <a:t>Ferronova · one model, impossible plans refused, people decide</a:t>
            </a:r>
          </a:p>
        </p:txBody>
      </p:sp>
      <p:pic>
        <p:nvPicPr>
          <p:cNvPr id="6" name="Picture 5" descr="3-gate-refu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8229600" cy="594717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006840" y="1463040"/>
            <a:ext cx="2606040" cy="45720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06840" y="1463040"/>
            <a:ext cx="73152" cy="4572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89719" y="1572768"/>
            <a:ext cx="23317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4243B"/>
                </a:solidFill>
                <a:latin typeface="Calibri"/>
              </a:rPr>
              <a:t>Try it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19" y="2011680"/>
            <a:ext cx="2331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Agent proposal: EUR 2.95M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Move C-101 to 1 May: refused R1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Pull C-102-EMC to 1 Mar, then C-101 to 1 May: EUR 1.4M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Commit: G5 asks for a director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22B36"/>
                </a:solidFill>
                <a:latin typeface="Calibri"/>
              </a:rPr>
              <a:t>•  Director signs: plan 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