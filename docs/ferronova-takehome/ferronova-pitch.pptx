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One plan you can trust,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400" b="1">
                <a:solidFill>
                  <a:srgbClr val="9CC2FF"/>
                </a:solidFill>
                <a:latin typeface="Calibri"/>
              </a:rPr>
              <a:t>then an agent that helps you change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C9D4E3"/>
                </a:solidFill>
                <a:latin typeface="Calibri"/>
              </a:rPr>
              <a:t>Ferronova · portfolio, scarce resources and re-planning on the Databricks lakehouse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C9D4E3"/>
                </a:solidFill>
                <a:latin typeface="Calibri"/>
              </a:rPr>
              <a:t>Rui Dias · Senior FDE take-home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THE PROBLEM AS WE UNDERSTAND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Thin margins, hard penalties, shared scarce resources, planned in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73152" cy="2194560"/>
          </a:xfrm>
          <a:prstGeom prst="rect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Margin is fragile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Single-digit operating margins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Penalties capped around 5 to 10% of contract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One slipped milestone can erase a programme's profit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73152" cy="2194560"/>
          </a:xfrm>
          <a:prstGeom prst="rect">
            <a:avLst/>
          </a:prstGeom>
          <a:solidFill>
            <a:srgbClr val="C77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5564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Risk spreads silently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945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A few rigs and crews serve 20 to 25 programmes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One rig down moves risk to other programmes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Nobody sees it until a date is missed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73152" cy="2194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5564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Planning lives in heads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2918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Excel and local factory tools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Constraint knowledge in a few senior planners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Key-person risk on the core of the business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14800"/>
            <a:ext cx="1106424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5F6B7A"/>
                </a:solidFill>
                <a:latin typeface="Calibri"/>
              </a:rPr>
              <a:t>The question nobody can answer in less than days 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1">
                <a:solidFill>
                  <a:srgbClr val="14243B"/>
                </a:solidFill>
                <a:latin typeface="Calibri"/>
              </a:rPr>
              <a:t>“If this bid lands, or this test rig goes down, what happens to everything else, and to our margin?”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WHAT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From reconciling spreadsheets to deciding on one live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3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749039"/>
                <a:gridCol w="4754880"/>
              </a:tblGrid>
              <a:tr h="56692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With the system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Portfolio view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Assembled by hand, weeks old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Live: every programme, milestone and scarce resource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Rig and crew bookings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Trackers per rig and per crew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One plan of record. A double booking cannot be saved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“What if this bid lands?”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Days of planner work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A scenario in minutes, with penalty exposure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Rig goes down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Phone calls, re-plan over days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Agent proposes a re-plan the same day, planner decides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Who decided what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In email threads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Every commit versioned: who, why, at what cost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Planner expertise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In heads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  <a:latin typeface="Calibri"/>
                        </a:rPr>
                        <a:t>Captured as rules and data, still under planner control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Protect margin first, then grow the order book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498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219456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Lever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Order of magnitude / year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Avoid penalties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Risk visible weeks earlier, same-day re-plans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EUR 5 to 10M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Recover from disruptions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~2 weeks recovered per major disruption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EUR 2 to 4M (partly overlaps)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Bid on dates we can meet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Bids checked against real rig and crew capacity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Avoid EUR 70M tail risk on one large bid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Use scarce assets better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Fewer idle rig gaps, crew moves, parked WIP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EUR 0.5 to 2M + cash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Planner capacity and resilience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Scenarios in minutes; knowledge captured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  <a:latin typeface="Calibri"/>
                        </a:rPr>
                        <a:t>Capacity, lower key-person 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321040" y="1600200"/>
            <a:ext cx="3291840" cy="34290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21040" y="1600200"/>
            <a:ext cx="73152" cy="3429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19" y="1709928"/>
            <a:ext cx="30175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How to read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19" y="2148840"/>
            <a:ext cx="30175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Assumes EUR 7.7bn in flight, 6% margin, penalties ~1% of revenue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Penalty lever alone ≈ 3 to 7% of operating profit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Board-level case: bid risk and resilience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Build ≈ EUR 1 to 1.5M, payback &lt; 1 year if penalty assumption 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0">
                <a:solidFill>
                  <a:srgbClr val="222B36"/>
                </a:solidFill>
                <a:latin typeface="Calibri"/>
              </a:rPr>
              <a:t>First number to get in week 1: penalties actually paid or accrued in the last 3 years, by milestone. If it is 0.3% of revenue, not 1%, the case rests on bid risk and resilience.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THE ORDER WE UNLOCK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Each step pays for itself and makes the next one safe. The agent comes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2651760" cy="8229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 · One picture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Weeks 0–8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7432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Sources in, IDs resolved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Portfolio risk dashboard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Read-only, low risk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691640"/>
            <a:ext cx="2651760" cy="82296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1737360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2 · Plan of 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121408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Weeks 6–16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2606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7432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Rig, crew, hall bookings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Hard rules enforced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Trackers retired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1691640"/>
            <a:ext cx="2651760" cy="822960"/>
          </a:xfrm>
          <a:prstGeom prst="roundRect">
            <a:avLst>
              <a:gd name="adj" fmla="val 8000"/>
            </a:avLst>
          </a:prstGeom>
          <a:solidFill>
            <a:srgbClr val="C77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737360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3 · What-if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121408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Weeks 12–20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2606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27432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Bid and disruption scenarios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Penalty exposure per option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Better bid decisions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691640"/>
            <a:ext cx="2651760" cy="822960"/>
          </a:xfrm>
          <a:prstGeom prst="roundRect">
            <a:avLst>
              <a:gd name="adj" fmla="val 8000"/>
            </a:avLst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737360"/>
            <a:ext cx="23774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4 · Agent proposes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121408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Weeks 18–26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2606040"/>
            <a:ext cx="2651760" cy="2011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07424" y="2743200"/>
            <a:ext cx="2468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Rig-down re-plan first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Planner approves or edits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Days to hours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9834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C23B3B"/>
                </a:solidFill>
                <a:latin typeface="Calibri"/>
              </a:rPr>
              <a:t>Where we push 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222B36"/>
                </a:solidFill>
                <a:latin typeface="Calibri"/>
              </a:rPr>
              <a:t>The ask is an agent on top. On today's data it would reason over spreadsheets that disagree. Steps 1 and 2 deliver most of the risk reduction and make the agent safe. Later: margin and cash forecast, portfolio optimisation, factory line balancing.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HOW IT STAYS 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The agent proposes. The data model refuses what is impossible. A person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2103120" cy="21488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2103120" cy="109728"/>
          </a:xfrm>
          <a:prstGeom prst="rect">
            <a:avLst/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74519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Rig A breaks 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920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10-week outage recorded.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Two test campaigns now conflict.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691640"/>
            <a:ext cx="2103120" cy="21488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691640"/>
            <a:ext cx="210312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8648" y="1874519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Agent proposes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377440"/>
            <a:ext cx="1920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Moves both campaigns to other capable rigs.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Cost: type approval 59 days late, EUR 2.95M.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91640"/>
            <a:ext cx="2103120" cy="21488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691640"/>
            <a:ext cx="2103120" cy="109728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1874519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Planner improves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377440"/>
            <a:ext cx="1920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Pulls another campaign forward.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Cost down to EUR 1.4M, 28 days late.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1691640"/>
            <a:ext cx="2103120" cy="21488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1691640"/>
            <a:ext cx="2103120" cy="109728"/>
          </a:xfrm>
          <a:prstGeom prst="rect">
            <a:avLst/>
          </a:prstGeom>
          <a:solidFill>
            <a:srgbClr val="C77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9208" y="1874519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Director approves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8" y="2377440"/>
            <a:ext cx="1920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Above the penalty threshold, so a director must sign.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1691640"/>
            <a:ext cx="2103120" cy="21488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09760" y="1691640"/>
            <a:ext cx="2103120" cy="109728"/>
          </a:xfrm>
          <a:prstGeom prst="rect">
            <a:avLst/>
          </a:prstGeom>
          <a:solidFill>
            <a:srgbClr val="14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19488" y="1874519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Committed as plan v2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19488" y="2377440"/>
            <a:ext cx="19202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One transaction, versioned, conflicts cleared.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4243B"/>
                </a:solidFill>
                <a:latin typeface="Calibri"/>
              </a:rPr>
              <a:t>What the system refused along the way (all tested)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48640" y="44348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30352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Attempt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Refused because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Book two campaigns on the same rig at the same time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A rig hosts one campaign at a time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Send a crew not qualified for the vehicle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Crew qualification checked on the dates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Test outside the customer's night or weekend window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Must sit inside a granted window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Agent changes a contract date or commits its own plan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No permission. Only planners commit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WHAT MAKES OR BREAKS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Three things decide success. Only one of them is technical.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26517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73152" cy="26517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1 · Planner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Planners see their own rules in the model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They keep the final say, always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Co-design from week 1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Measure: % of changes made through the system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91640"/>
            <a:ext cx="3566160" cy="26517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73152" cy="2651760"/>
          </a:xfrm>
          <a:prstGeom prst="rect">
            <a:avLst/>
          </a:prstGeom>
          <a:solidFill>
            <a:srgbClr val="C77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80136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2 · One write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2402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Every rig, crew and hall change goes through the plan of record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Trackers retired, not kept in parallel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A management decision, not a technical 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91640"/>
            <a:ext cx="3566160" cy="26517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691640"/>
            <a:ext cx="73152" cy="2651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80136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3 · Data you can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2402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Every factory names things differently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ID crosswalk with named owners per source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Unresolved records visible on the dashboard, never silently dropped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What I need from you to firm this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35661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73152" cy="3566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52120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Business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What did penalties cost in the last 3 years, by milestone?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Which constraint binds most today: rigs, crews or hall space?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How are penalties written: caps, recovery, force majeure for rig failure?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Who may accept a plan that makes a customer milestone late?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At what bid probability should a bid reserve capacity?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How much autonomy for the agent in year one?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356616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73152" cy="3566160"/>
          </a:xfrm>
          <a:prstGeom prst="rect">
            <a:avLst/>
          </a:prstGeom>
          <a:solidFill>
            <a:srgbClr val="14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5564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Technical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456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Direct DB access with change capture on the scheduling tool?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Which MES per factory, and what can each export, how often?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Does the register cover batches, rigs and crews, or only programmes?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Lakebase in your region, with the extensions we need?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Planner and factory groups already in Entra ID?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How fresh must the picture be: minutes, hours, daily?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HOW I WORKED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Faster on the mechanical parts, overruled on the judgment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23774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73152" cy="237744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52120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Where it moved me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52120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Drafted the Postgres DDL, seed data and a test harness in minutes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I spent the saved time on the rules: which are hard, which are priced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15 executable tests prove the rules hold for agent and planner alike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9164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73152" cy="2377440"/>
          </a:xfrm>
          <a:prstGeom prst="rect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Where I overrode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402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First draft enforced rules with Delta CHECK constraints and pipeline expectations. Those detect, they do not prevent cross-row conflicts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222B36"/>
                </a:solidFill>
                <a:latin typeface="Calibri"/>
              </a:rPr>
              <a:t>•  First draft put agent safety in the prompt. Moved it into grants, row-level security and a single commit 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Calibri"/>
              </a:rPr>
              <a:t>Adapt this slide to your own session before sending.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Backup · architecture, data model, agent, planner 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BACKUP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Lakehouse for the picture, Lakebase for the plan of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5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2057400" cy="27432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33172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Scheduling DB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MES × factories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PLM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CRM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ERP + sheets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Planner trackers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Programme register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4328" y="3429000"/>
            <a:ext cx="155448" cy="274320"/>
          </a:xfrm>
          <a:prstGeom prst="rightArrow">
            <a:avLst/>
          </a:prstGeom>
          <a:solidFill>
            <a:srgbClr val="D5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164592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67335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Ingest + conform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2240280"/>
            <a:ext cx="2057400" cy="27432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2072" y="233172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Lakeflow Connect, Auto Loader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bronze: raw, lineage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silver: conformed on register IDs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ID crosswalk + quarantine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Expectations, SCD2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64608" y="3429000"/>
            <a:ext cx="155448" cy="274320"/>
          </a:xfrm>
          <a:prstGeom prst="rightArrow">
            <a:avLst/>
          </a:prstGeom>
          <a:solidFill>
            <a:srgbClr val="D5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0" y="164592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67335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Plan of record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40280"/>
            <a:ext cx="2057400" cy="27432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02352" y="233172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Lakebase (Postgres)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Bookings: rig, crew, hall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Scenarios, approvals, versions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EXCLUDE, FK, CHECK, RLS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commit_scenario: gates G1–G6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04888" y="3429000"/>
            <a:ext cx="155448" cy="274320"/>
          </a:xfrm>
          <a:prstGeom prst="rightArrow">
            <a:avLst/>
          </a:prstGeom>
          <a:solidFill>
            <a:srgbClr val="D5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69480" y="164592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C77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67335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Read models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2240280"/>
            <a:ext cx="2057400" cy="27432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42631" y="233172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gold: milestone risk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resource load by week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scenario impact, margin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Metric views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345168" y="3429000"/>
            <a:ext cx="155448" cy="274320"/>
          </a:xfrm>
          <a:prstGeom prst="rightArrow">
            <a:avLst/>
          </a:prstGeom>
          <a:solidFill>
            <a:srgbClr val="D5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1645920"/>
            <a:ext cx="2057400" cy="502920"/>
          </a:xfrm>
          <a:prstGeom prst="roundRect">
            <a:avLst>
              <a:gd name="adj" fmla="val 8000"/>
            </a:avLst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1673352"/>
            <a:ext cx="1874519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Surfaces + agent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0" y="2240280"/>
            <a:ext cx="2057400" cy="274320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2" y="233172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Databricks App: planner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AI/BI + Genie: leadership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Agent: service principal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Tools = UC functions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Optimiser = black 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Why Lakebase: Delta enforces only row-level rules. “One campaign per rig at a time” is a cross-row rule. Postgres makes it impossible to save.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Governance: Unity Catalog grants, row filters (factory), column masks (margin). Same identities in Lakebase. Agent has no write grant outside its draft.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BACKUP ·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Every hard rule is a database constraint, scoped by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740664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480560"/>
              </a:tblGrid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73152" marR="73152" marT="27432" marB="27432" anchor="ctr">
                    <a:solidFill>
                      <a:srgbClr val="14243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Rig: one campaign at a time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EXCLUDE (scenario, rig, period &amp;&amp;)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Rig can run the test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FK (rig, test type) → rig_capability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Crew qualified on those dates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FK (crew, design, qual_period) + CHECK period &lt;@ qual_period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Inside customer access window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FK (window, site, window_period) + CHECK period &lt;@ window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Crew in one place, travel included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EXCLUDE (scenario, crew, [mobilise_from, end) &amp;&amp;)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Hall never over-committed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Bays as positions + EXCLUDE (scenario, position, period &amp;&amp;)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No commit on broken rig / revoked window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Commit gate G4 over v_plan_conflicts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Milestones and penalties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Priced per scenario; G5 escalates above threshold</a:t>
                      </a:r>
                    </a:p>
                  </a:txBody>
                  <a:tcPr marL="73152" marR="73152" marT="27432" marB="27432" anchor="ctr">
                    <a:solidFill>
                      <a:srgbClr val="F2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No stale overwrite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B36"/>
                          </a:solidFill>
                          <a:latin typeface="Calibri"/>
                        </a:rPr>
                        <a:t>base_version check under lock on plan_head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600200"/>
            <a:ext cx="3429000" cy="42976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83879" y="1600200"/>
            <a:ext cx="73152" cy="4297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59" y="1709928"/>
            <a:ext cx="3154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Core tables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59" y="214884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Reference: programme, design, design_type_test, milestone, campaign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Resources: test_rig, rig_capability, crew, crew_qualification, access_window, hall_position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Plan (by scenario): rig_booking, crew_assignment, hall_occupancy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222B36"/>
                </a:solidFill>
                <a:latin typeface="Calibri"/>
              </a:rPr>
              <a:t>•  Governance: scenario, approval, plan_version, operational_event, guardrail_policy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BACKUP · THE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Scoped to one trigger first: a test rig goes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73152" cy="29260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Proposes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Re-sequence homologation campaigns across capable rigs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Next: place a landed bid's campaigns and crews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Reads via UC functions: affected bookings, capable rigs, free slots, impact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Writes only into its own draft scenario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73152" cy="2926080"/>
          </a:xfrm>
          <a:prstGeom prst="rect">
            <a:avLst/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5564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Never touches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19456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Contract dates and penalty terms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Customer windows, qualifications, rig capabilities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Factory shop-floor sequencing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The committed plan, approvals, thresholds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Bid pricing and customer talks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566160" cy="292608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73152" cy="2926080"/>
          </a:xfrm>
          <a:prstGeom prst="rect">
            <a:avLst/>
          </a:prstGeom>
          <a:solidFill>
            <a:srgbClr val="14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755648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4243B"/>
                </a:solidFill>
                <a:latin typeface="Calibri"/>
              </a:rPr>
              <a:t>Guardrails live in the database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19456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RLS: own draft only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Constraints: every row feasible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No EXECUTE on commit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G2 stale, G4 reality, G5 ruinous → director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222B36"/>
                </a:solidFill>
                <a:latin typeface="Calibri"/>
              </a:rPr>
              <a:t>•  MLflow trace + rationale + row diff for audit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Calibri"/>
              </a:rPr>
              <a:t>BACKUP · PLANNER VIEW (MOCK)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1556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800" b="1">
                <a:solidFill>
                  <a:srgbClr val="14243B"/>
                </a:solidFill>
                <a:latin typeface="Calibri"/>
              </a:rPr>
              <a:t>How a proposed re-plan appears, and where the planner decides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F6B7A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Ferronova · portfolio planning on a governed data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1064240" cy="4663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solidFill>
            <a:srgbClr val="14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81912"/>
            <a:ext cx="731520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Planner workbench · Plan v1 · 1 open event · 1 proposal awaiting 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48840"/>
            <a:ext cx="329184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31089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RIG-A down · 1 Mar – 15 May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2 campaigns in conflict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Reported by TC-1 maintenance 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74720"/>
            <a:ext cx="3291840" cy="2560320"/>
          </a:xfrm>
          <a:prstGeom prst="roundRect">
            <a:avLst>
              <a:gd name="adj" fmla="val 8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4243B"/>
                </a:solidFill>
                <a:latin typeface="Calibri"/>
              </a:rPr>
              <a:t>Impact vs plan v1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88620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Penalty delta: + EUR 1.40M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Newly late: M-101 Type approval (+28 d)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Unscheduled campaigns: 0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RIG-B load May–Jul: 100%</a:t>
            </a:r>
          </a:p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Needs: programme director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10312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4243B"/>
                </a:solidFill>
                <a:latin typeface="Calibri"/>
              </a:rPr>
              <a:t>Proposed bookings (diff vs plan v1)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60604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>
                <a:solidFill>
                  <a:srgbClr val="222B36"/>
                </a:solidFill>
                <a:latin typeface="Calibri"/>
              </a:rPr>
              <a:t>RIG-A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2606040"/>
            <a:ext cx="4023360" cy="457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37760" y="2660904"/>
            <a:ext cx="2011680" cy="347472"/>
          </a:xfrm>
          <a:prstGeom prst="roundRect">
            <a:avLst>
              <a:gd name="adj" fmla="val 8000"/>
            </a:avLst>
          </a:prstGeom>
          <a:solidFill>
            <a:srgbClr val="D5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2660904"/>
            <a:ext cx="2011680" cy="3474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5F6B7A"/>
                </a:solidFill>
                <a:latin typeface="Calibri"/>
              </a:rPr>
              <a:t>outage 1 Mar – 15 May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29184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>
                <a:solidFill>
                  <a:srgbClr val="222B36"/>
                </a:solidFill>
                <a:latin typeface="Calibri"/>
              </a:rPr>
              <a:t>RIG-B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3291840"/>
            <a:ext cx="4023360" cy="457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937760" y="3346704"/>
            <a:ext cx="1589227" cy="347472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3346704"/>
            <a:ext cx="1589227" cy="3474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C-102-EMC (moved earlier)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67220" y="3346704"/>
            <a:ext cx="2313432" cy="347472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12940" y="3346704"/>
            <a:ext cx="2313432" cy="3474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C-101-EMC (from RIG-A)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77639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1200" b="1">
                <a:solidFill>
                  <a:srgbClr val="222B36"/>
                </a:solidFill>
                <a:latin typeface="Calibri"/>
              </a:rPr>
              <a:t>RIG-C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3977639"/>
            <a:ext cx="4023360" cy="457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67220" y="4032503"/>
            <a:ext cx="2393899" cy="347472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2940" y="4032503"/>
            <a:ext cx="2393899" cy="3474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alibri"/>
              </a:rPr>
              <a:t>C-102-BRK (from RIG-A)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663440"/>
            <a:ext cx="80467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Mar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42432" y="4663440"/>
            <a:ext cx="80467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Apr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4663440"/>
            <a:ext cx="80467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May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6" y="4663440"/>
            <a:ext cx="80467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Jun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663440"/>
            <a:ext cx="80467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Jul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983480"/>
            <a:ext cx="475488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Agent rationale: only EMC-capable rig free is RIG-B; BRAKE moves to RIG-C same dates.</a:t>
            </a:r>
          </a:p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Edited by planner_ana: C-102-EMC pulled to 1 Mar (−EUR 1.55M).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9720" y="2194560"/>
            <a:ext cx="2240280" cy="54864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2194560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 &amp; commit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926080"/>
            <a:ext cx="2240280" cy="54864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2926080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Edit (drag bookings)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20" y="3657600"/>
            <a:ext cx="2240280" cy="548640"/>
          </a:xfrm>
          <a:prstGeom prst="roundRect">
            <a:avLst>
              <a:gd name="adj" fmla="val 8000"/>
            </a:avLst>
          </a:prstGeom>
          <a:solidFill>
            <a:srgbClr val="C77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20" y="3657600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Request director sign-off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89720" y="4389120"/>
            <a:ext cx="2240280" cy="548640"/>
          </a:xfrm>
          <a:prstGeom prst="roundRect">
            <a:avLst>
              <a:gd name="adj" fmla="val 8000"/>
            </a:avLst>
          </a:prstGeom>
          <a:solidFill>
            <a:srgbClr val="C2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89720" y="4389120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Reject with reason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720" y="5212080"/>
            <a:ext cx="22402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Invalid drags are refused on the spot, with the rule that blocked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